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9" r:id="rId12"/>
    <p:sldId id="266" r:id="rId13"/>
    <p:sldId id="273" r:id="rId14"/>
    <p:sldId id="272" r:id="rId15"/>
    <p:sldId id="267" r:id="rId16"/>
    <p:sldId id="271" r:id="rId17"/>
  </p:sldIdLst>
  <p:sldSz cx="12192000" cy="6858000"/>
  <p:notesSz cx="6858000" cy="12192000"/>
  <p:embeddedFontLst>
    <p:embeddedFont>
      <p:font typeface="Malgun Gothic" panose="020B0503020000020004" pitchFamily="34" charset="-127"/>
      <p:regular r:id="rId19"/>
      <p:bold r:id="rId20"/>
    </p:embeddedFont>
    <p:embeddedFont>
      <p:font typeface="Malgun Gothic Semilight" panose="020B0502040204020203" pitchFamily="34" charset="-122"/>
      <p:regular r:id="rId21"/>
    </p:embeddedFont>
    <p:embeddedFont>
      <p:font typeface="MiSans" panose="02010600030101010101" charset="-122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1F4C5-6709-D074-60FA-E55806821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05F50D-A5FC-783E-B132-62716DA2B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49E0C6-B213-4993-0EDD-1C4EE0BB4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7CDBA-6EB4-7146-01B3-E4C5F8F70D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841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image" Target="../media/image7.png"/><Relationship Id="rId5" Type="http://schemas.openxmlformats.org/officeDocument/2006/relationships/tags" Target="../tags/tag9.xml"/><Relationship Id="rId10" Type="http://schemas.openxmlformats.org/officeDocument/2006/relationships/image" Target="../media/image6.png"/><Relationship Id="rId4" Type="http://schemas.openxmlformats.org/officeDocument/2006/relationships/tags" Target="../tags/tag8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spring.io/spring-boot/documentation.html" TargetMode="External"/><Relationship Id="rId4" Type="http://schemas.openxmlformats.org/officeDocument/2006/relationships/hyperlink" Target="https://developers.weixin.qq.com/miniprogram/dev/framework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9">
            <a:alpha val="56863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6115" y="4048125"/>
            <a:ext cx="2678430" cy="1395095"/>
          </a:xfrm>
          <a:prstGeom prst="roundRect">
            <a:avLst/>
          </a:prstGeom>
          <a:solidFill>
            <a:srgbClr val="E8F87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789430" y="4176395"/>
            <a:ext cx="2078355" cy="48450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697355" y="2947988"/>
            <a:ext cx="4923155" cy="76835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“城院点餐”小程序</a:t>
            </a:r>
            <a:endParaRPr lang="zh-CN" altLang="en-US" sz="2400" b="1" dirty="0"/>
          </a:p>
        </p:txBody>
      </p:sp>
      <p:sp>
        <p:nvSpPr>
          <p:cNvPr id="5" name="Text 3"/>
          <p:cNvSpPr/>
          <p:nvPr/>
        </p:nvSpPr>
        <p:spPr>
          <a:xfrm>
            <a:off x="2032635" y="4176395"/>
            <a:ext cx="2581910" cy="1476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汇报人：</a:t>
            </a:r>
            <a:r>
              <a:rPr lang="zh-CN" altLang="en-US" b="1" dirty="0">
                <a:sym typeface="+mn-ea"/>
              </a:rPr>
              <a:t>第四组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sym typeface="+mn-ea"/>
              </a:rPr>
              <a:t>杨坤洁：项目经理</a:t>
            </a:r>
            <a:endParaRPr lang="zh-CN" altLang="en-US" b="1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徐俊华：技术经理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赵晓凯：产品经理</a:t>
            </a:r>
          </a:p>
          <a:p>
            <a:pPr marL="0" indent="0">
              <a:lnSpc>
                <a:spcPct val="100000"/>
              </a:lnSpc>
              <a:buNone/>
            </a:pPr>
            <a:endParaRPr lang="zh-CN" altLang="en-US" dirty="0">
              <a:solidFill>
                <a:srgbClr val="604802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18515" y="1748790"/>
            <a:ext cx="970915" cy="1463040"/>
          </a:xfrm>
          <a:prstGeom prst="star4">
            <a:avLst/>
          </a:prstGeom>
          <a:solidFill>
            <a:srgbClr val="E8F87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18515" y="1748790"/>
            <a:ext cx="970915" cy="14630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53210" y="1570355"/>
            <a:ext cx="340360" cy="541655"/>
          </a:xfrm>
          <a:prstGeom prst="star4">
            <a:avLst/>
          </a:prstGeom>
          <a:solidFill>
            <a:srgbClr val="E8F87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53210" y="1570355"/>
            <a:ext cx="340360" cy="541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0" name="Image 0" descr="https://test-kimi-img.moonshot.cn/pub/slides/slides_tmpl/image/25-08-11-18:10:17-d2cs32f0ctitcgma306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515" y="-437808"/>
            <a:ext cx="6092436" cy="7733615"/>
          </a:xfrm>
          <a:prstGeom prst="rect">
            <a:avLst/>
          </a:prstGeom>
        </p:spPr>
      </p:pic>
      <p:pic>
        <p:nvPicPr>
          <p:cNvPr id="13" name="图片 12" descr="屏幕截图 2025-09-28 1928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515" y="2913380"/>
            <a:ext cx="1635760" cy="12630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8-11-18:10:10-d2cs30n0ctitcgma305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370" y="4441326"/>
            <a:ext cx="2781300" cy="965200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8-11-18:10:10-d2cs30n0ctitcgma305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23" y="4441326"/>
            <a:ext cx="2781300" cy="965200"/>
          </a:xfrm>
          <a:prstGeom prst="rect">
            <a:avLst/>
          </a:prstGeom>
        </p:spPr>
      </p:pic>
      <p:pic>
        <p:nvPicPr>
          <p:cNvPr id="4" name="Image 2" descr="https://test-kimi-img.moonshot.cn/pub/slides/slides_tmpl/image/25-08-11-18:10:10-d2cs30n0ctitcgma305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370" y="2429827"/>
            <a:ext cx="2781300" cy="965200"/>
          </a:xfrm>
          <a:prstGeom prst="rect">
            <a:avLst/>
          </a:prstGeom>
        </p:spPr>
      </p:pic>
      <p:pic>
        <p:nvPicPr>
          <p:cNvPr id="5" name="Image 3" descr="https://test-kimi-img.moonshot.cn/pub/slides/slides_tmpl/image/25-08-11-18:10:10-d2cs30n0ctitcgma305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23" y="2429827"/>
            <a:ext cx="2781300" cy="9652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3900170" y="4091940"/>
            <a:ext cx="714375" cy="927735"/>
          </a:xfrm>
          <a:prstGeom prst="star4">
            <a:avLst/>
          </a:prstGeom>
          <a:solidFill>
            <a:srgbClr val="ACD78E">
              <a:alpha val="7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 1"/>
          <p:cNvSpPr/>
          <p:nvPr/>
        </p:nvSpPr>
        <p:spPr>
          <a:xfrm>
            <a:off x="3900170" y="4091940"/>
            <a:ext cx="714375" cy="9277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2"/>
          <p:cNvSpPr/>
          <p:nvPr/>
        </p:nvSpPr>
        <p:spPr>
          <a:xfrm>
            <a:off x="497205" y="4091940"/>
            <a:ext cx="714375" cy="927735"/>
          </a:xfrm>
          <a:prstGeom prst="star4">
            <a:avLst/>
          </a:prstGeom>
          <a:solidFill>
            <a:srgbClr val="ACD78E">
              <a:alpha val="7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Text 3"/>
          <p:cNvSpPr/>
          <p:nvPr/>
        </p:nvSpPr>
        <p:spPr>
          <a:xfrm>
            <a:off x="497205" y="4091940"/>
            <a:ext cx="714375" cy="9277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4"/>
          <p:cNvSpPr/>
          <p:nvPr/>
        </p:nvSpPr>
        <p:spPr>
          <a:xfrm>
            <a:off x="3900170" y="2085975"/>
            <a:ext cx="714375" cy="927735"/>
          </a:xfrm>
          <a:prstGeom prst="star4">
            <a:avLst/>
          </a:prstGeom>
          <a:solidFill>
            <a:srgbClr val="ACD78E">
              <a:alpha val="7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Text 5"/>
          <p:cNvSpPr/>
          <p:nvPr/>
        </p:nvSpPr>
        <p:spPr>
          <a:xfrm>
            <a:off x="3900170" y="2085975"/>
            <a:ext cx="714375" cy="9277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8447405" y="11430"/>
            <a:ext cx="2149475" cy="6848475"/>
          </a:xfrm>
          <a:prstGeom prst="rect">
            <a:avLst/>
          </a:prstGeom>
          <a:solidFill>
            <a:srgbClr val="EAF983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 7"/>
          <p:cNvSpPr/>
          <p:nvPr/>
        </p:nvSpPr>
        <p:spPr>
          <a:xfrm>
            <a:off x="8447405" y="11430"/>
            <a:ext cx="2149475" cy="68484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718503" y="786765"/>
            <a:ext cx="2676525" cy="95130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目录：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496570" y="2082165"/>
            <a:ext cx="714375" cy="927735"/>
          </a:xfrm>
          <a:prstGeom prst="star4">
            <a:avLst/>
          </a:prstGeom>
          <a:solidFill>
            <a:srgbClr val="ACD78E">
              <a:alpha val="7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0"/>
          <p:cNvSpPr/>
          <p:nvPr/>
        </p:nvSpPr>
        <p:spPr>
          <a:xfrm>
            <a:off x="496570" y="2082165"/>
            <a:ext cx="714375" cy="9277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7" name="Image 4" descr="https://test-kimi-img.moonshot.cn/pub/slides/slides_tmpl/image/25-08-11-18:10:19-d2cs32v0ctitcgma308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1980" y="33201"/>
            <a:ext cx="5185028" cy="6858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26465" y="2559050"/>
            <a:ext cx="955040" cy="6123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01.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1682705" y="2620645"/>
            <a:ext cx="1947318" cy="27324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4330065" y="2559050"/>
            <a:ext cx="955040" cy="6123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02.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5330190" y="2630170"/>
            <a:ext cx="1708785" cy="27324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目标用户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926465" y="4625340"/>
            <a:ext cx="955040" cy="6123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03.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877695" y="4625340"/>
            <a:ext cx="1696720" cy="27324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4330065" y="4625340"/>
            <a:ext cx="955040" cy="6123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04.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5302885" y="4625340"/>
            <a:ext cx="1708785" cy="27324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技术实现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6001385" y="586105"/>
            <a:ext cx="5621020" cy="6530340"/>
          </a:xfrm>
          <a:prstGeom prst="star4">
            <a:avLst/>
          </a:prstGeom>
          <a:solidFill>
            <a:srgbClr val="E8F87A">
              <a:alpha val="20000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1500000">
            <a:off x="6001385" y="586105"/>
            <a:ext cx="5621020" cy="65303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2879725"/>
            <a:ext cx="735330" cy="807720"/>
          </a:xfrm>
          <a:prstGeom prst="rect">
            <a:avLst/>
          </a:prstGeom>
          <a:solidFill>
            <a:srgbClr val="EAF98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0" y="2879725"/>
            <a:ext cx="735330" cy="807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74397" y="2766695"/>
            <a:ext cx="5633720" cy="183261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70145" y="2200910"/>
            <a:ext cx="913765" cy="1131570"/>
          </a:xfrm>
          <a:prstGeom prst="star4">
            <a:avLst/>
          </a:prstGeom>
          <a:solidFill>
            <a:srgbClr val="ACD78E">
              <a:alpha val="7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70145" y="2200910"/>
            <a:ext cx="913765" cy="1131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0420" y="1602105"/>
            <a:ext cx="4822825" cy="38588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0" dirty="0">
                <a:solidFill>
                  <a:srgbClr val="E8F87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01</a:t>
            </a:r>
            <a:endParaRPr lang="en-US" sz="1600" dirty="0"/>
          </a:p>
        </p:txBody>
      </p:sp>
      <p:pic>
        <p:nvPicPr>
          <p:cNvPr id="10" name="Image 0" descr="https://test-kimi-img.moonshot.cn/pub/slides/slides_tmpl/image/25-08-11-18:10:17-d2cs32f0ctitcgma306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34035"/>
            <a:ext cx="2377440" cy="3017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54150"/>
            <a:ext cx="12214860" cy="3949065"/>
          </a:xfrm>
          <a:prstGeom prst="rect">
            <a:avLst/>
          </a:prstGeom>
          <a:solidFill>
            <a:srgbClr val="E8F87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0" y="1454150"/>
            <a:ext cx="12214860" cy="39490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496435" y="4370070"/>
            <a:ext cx="7719060" cy="1882140"/>
          </a:xfrm>
          <a:prstGeom prst="rect">
            <a:avLst/>
          </a:prstGeom>
          <a:solidFill>
            <a:srgbClr val="E9FA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4496435" y="4370070"/>
            <a:ext cx="7719060" cy="18821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65430" y="485775"/>
            <a:ext cx="11275695" cy="49549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项目名称与定位</a:t>
            </a:r>
            <a:endParaRPr lang="en-US" sz="1600" dirty="0"/>
          </a:p>
        </p:txBody>
      </p:sp>
      <p:sp>
        <p:nvSpPr>
          <p:cNvPr id="9" name="Text 5"/>
          <p:cNvSpPr/>
          <p:nvPr>
            <p:custDataLst>
              <p:tags r:id="rId1"/>
            </p:custDataLst>
          </p:nvPr>
        </p:nvSpPr>
        <p:spPr>
          <a:xfrm>
            <a:off x="5539105" y="1922780"/>
            <a:ext cx="5570220" cy="7562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项目名称</a:t>
            </a:r>
            <a:endParaRPr lang="en-US" sz="1600" dirty="0"/>
          </a:p>
        </p:txBody>
      </p:sp>
      <p:sp>
        <p:nvSpPr>
          <p:cNvPr id="10" name="Text 6"/>
          <p:cNvSpPr/>
          <p:nvPr>
            <p:custDataLst>
              <p:tags r:id="rId2"/>
            </p:custDataLst>
          </p:nvPr>
        </p:nvSpPr>
        <p:spPr>
          <a:xfrm>
            <a:off x="5539105" y="2677160"/>
            <a:ext cx="6277610" cy="138620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项目定名为‘城院点餐’，简洁明了，精准传达服务对象与核心功能，让师生与商家一听便知是为校园食堂点餐而生。</a:t>
            </a:r>
            <a:endParaRPr lang="en-US" sz="1600" dirty="0"/>
          </a:p>
        </p:txBody>
      </p:sp>
      <p:sp>
        <p:nvSpPr>
          <p:cNvPr id="11" name="Text 7"/>
          <p:cNvSpPr/>
          <p:nvPr>
            <p:custDataLst>
              <p:tags r:id="rId3"/>
            </p:custDataLst>
          </p:nvPr>
        </p:nvSpPr>
        <p:spPr>
          <a:xfrm>
            <a:off x="4815205" y="4695190"/>
            <a:ext cx="5333365" cy="50990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12" name="Text 8"/>
          <p:cNvSpPr/>
          <p:nvPr>
            <p:custDataLst>
              <p:tags r:id="rId4"/>
            </p:custDataLst>
          </p:nvPr>
        </p:nvSpPr>
        <p:spPr>
          <a:xfrm>
            <a:off x="4815205" y="5205095"/>
            <a:ext cx="7000875" cy="107124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定位为校内食堂线上点餐服务，旨在将传统食堂排队点餐模式转变为线上下单、线下取餐，减少师生等待时间，同时帮助食堂提前备餐，减少浪费。</a:t>
            </a:r>
            <a:endParaRPr lang="en-US" sz="16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265430" y="1675765"/>
            <a:ext cx="4231005" cy="31730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48860" y="3364865"/>
            <a:ext cx="70148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  <a:sym typeface="+mn-ea"/>
              </a:rPr>
              <a:t>面向对象</a:t>
            </a:r>
          </a:p>
          <a:p>
            <a:endParaRPr lang="en-US" sz="1400" dirty="0">
              <a:solidFill>
                <a:srgbClr val="604802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  <a:sym typeface="+mn-ea"/>
            </a:endParaRPr>
          </a:p>
          <a:p>
            <a:r>
              <a:rPr lang="en-US" sz="1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  <a:sym typeface="+mn-ea"/>
              </a:rPr>
              <a:t>项目</a:t>
            </a:r>
            <a:r>
              <a:rPr lang="zh-CN" altLang="en-US" sz="1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  <a:sym typeface="+mn-ea"/>
              </a:rPr>
              <a:t>面向的是全体城院师生</a:t>
            </a:r>
            <a:endParaRPr lang="en-US" sz="1400" dirty="0"/>
          </a:p>
          <a:p>
            <a:endParaRPr lang="zh-CN" alt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6001385" y="586105"/>
            <a:ext cx="5621020" cy="6530340"/>
          </a:xfrm>
          <a:prstGeom prst="star4">
            <a:avLst/>
          </a:prstGeom>
          <a:solidFill>
            <a:srgbClr val="E8F87A">
              <a:alpha val="20000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1500000">
            <a:off x="6001385" y="586105"/>
            <a:ext cx="5621020" cy="65303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2879725"/>
            <a:ext cx="735330" cy="807720"/>
          </a:xfrm>
          <a:prstGeom prst="rect">
            <a:avLst/>
          </a:prstGeom>
          <a:solidFill>
            <a:srgbClr val="EAF98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0" y="2879725"/>
            <a:ext cx="735330" cy="807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74397" y="2766695"/>
            <a:ext cx="5633720" cy="183261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目标用户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70145" y="2200910"/>
            <a:ext cx="913765" cy="1131570"/>
          </a:xfrm>
          <a:prstGeom prst="star4">
            <a:avLst/>
          </a:prstGeom>
          <a:solidFill>
            <a:srgbClr val="ACD78E">
              <a:alpha val="7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70145" y="2200910"/>
            <a:ext cx="913765" cy="1131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0420" y="1602105"/>
            <a:ext cx="4822825" cy="38588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0" dirty="0">
                <a:solidFill>
                  <a:srgbClr val="E8F87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02</a:t>
            </a:r>
            <a:endParaRPr lang="en-US" sz="1600" dirty="0"/>
          </a:p>
        </p:txBody>
      </p:sp>
      <p:pic>
        <p:nvPicPr>
          <p:cNvPr id="10" name="Image 0" descr="https://test-kimi-img.moonshot.cn/pub/slides/slides_tmpl/image/25-08-11-18:10:17-d2cs32f0ctitcgma306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34035"/>
            <a:ext cx="2377440" cy="3017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6495093" cy="6858000"/>
          </a:xfrm>
          <a:prstGeom prst="rect">
            <a:avLst/>
          </a:prstGeom>
          <a:solidFill>
            <a:srgbClr val="EAF98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-1" y="0"/>
            <a:ext cx="6495093" cy="6858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7120255" y="312677"/>
            <a:ext cx="4772660" cy="718185"/>
          </a:xfrm>
          <a:prstGeom prst="rect">
            <a:avLst/>
          </a:prstGeom>
          <a:solidFill>
            <a:srgbClr val="FFFCF2">
              <a:alpha val="61961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120255" y="312677"/>
            <a:ext cx="4772660" cy="7181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0530" y="372118"/>
            <a:ext cx="5665470" cy="206057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师生与商家的双重画像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059982" y="3306445"/>
            <a:ext cx="1109980" cy="1536700"/>
          </a:xfrm>
          <a:prstGeom prst="star4">
            <a:avLst/>
          </a:prstGeom>
          <a:solidFill>
            <a:srgbClr val="92D050">
              <a:alpha val="63137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4059982" y="3306445"/>
            <a:ext cx="1109980" cy="15367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7"/>
          <p:cNvSpPr/>
          <p:nvPr>
            <p:custDataLst>
              <p:tags r:id="rId2"/>
            </p:custDataLst>
          </p:nvPr>
        </p:nvSpPr>
        <p:spPr>
          <a:xfrm>
            <a:off x="6712333" y="2896924"/>
            <a:ext cx="683260" cy="819042"/>
          </a:xfrm>
          <a:prstGeom prst="star4">
            <a:avLst/>
          </a:prstGeom>
          <a:solidFill>
            <a:srgbClr val="92D050">
              <a:alpha val="63137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6712333" y="2896924"/>
            <a:ext cx="683260" cy="81904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30265" y="4838640"/>
            <a:ext cx="683260" cy="991870"/>
          </a:xfrm>
          <a:prstGeom prst="star4">
            <a:avLst/>
          </a:prstGeom>
          <a:solidFill>
            <a:srgbClr val="92D050">
              <a:alpha val="63137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430265" y="4838640"/>
            <a:ext cx="683260" cy="9918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1"/>
          <p:cNvSpPr/>
          <p:nvPr>
            <p:custDataLst>
              <p:tags r:id="rId3"/>
            </p:custDataLst>
          </p:nvPr>
        </p:nvSpPr>
        <p:spPr>
          <a:xfrm>
            <a:off x="6712333" y="372118"/>
            <a:ext cx="683260" cy="819042"/>
          </a:xfrm>
          <a:prstGeom prst="star4">
            <a:avLst/>
          </a:prstGeom>
          <a:solidFill>
            <a:srgbClr val="92D050">
              <a:alpha val="63137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2"/>
          <p:cNvSpPr/>
          <p:nvPr/>
        </p:nvSpPr>
        <p:spPr>
          <a:xfrm>
            <a:off x="6712333" y="372118"/>
            <a:ext cx="683260" cy="81904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3"/>
          <p:cNvSpPr/>
          <p:nvPr>
            <p:custDataLst>
              <p:tags r:id="rId4"/>
            </p:custDataLst>
          </p:nvPr>
        </p:nvSpPr>
        <p:spPr>
          <a:xfrm>
            <a:off x="7412737" y="544709"/>
            <a:ext cx="4432300" cy="50419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师生端需求</a:t>
            </a:r>
            <a:endParaRPr lang="en-US" sz="1600" dirty="0"/>
          </a:p>
        </p:txBody>
      </p:sp>
      <p:sp>
        <p:nvSpPr>
          <p:cNvPr id="18" name="Text 14"/>
          <p:cNvSpPr/>
          <p:nvPr>
            <p:custDataLst>
              <p:tags r:id="rId5"/>
            </p:custDataLst>
          </p:nvPr>
        </p:nvSpPr>
        <p:spPr>
          <a:xfrm>
            <a:off x="6886957" y="1193436"/>
            <a:ext cx="4874513" cy="18522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师生端以时间敏感、价格敏感、口味多元为核心诉求，需要快速找餐、灵活支付、即时取餐，以节省时间并满足多样化的饮食需求。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219570" y="5119567"/>
            <a:ext cx="4432300" cy="50419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商家端需求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113524" y="5621076"/>
            <a:ext cx="10692717" cy="991871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商家端关注订单可控、菜品易管、数据可视，需要后台简洁、操作零门槛，以便高效管理订单与菜品，提升运营效率。</a:t>
            </a:r>
            <a:endParaRPr lang="en-US" sz="1600" dirty="0"/>
          </a:p>
        </p:txBody>
      </p:sp>
      <p:sp>
        <p:nvSpPr>
          <p:cNvPr id="21" name="Text 17"/>
          <p:cNvSpPr/>
          <p:nvPr>
            <p:custDataLst>
              <p:tags r:id="rId6"/>
            </p:custDataLst>
          </p:nvPr>
        </p:nvSpPr>
        <p:spPr>
          <a:xfrm>
            <a:off x="7412737" y="3153625"/>
            <a:ext cx="3493135" cy="313333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用户价值</a:t>
            </a:r>
            <a:endParaRPr lang="en-US" sz="1600" dirty="0"/>
          </a:p>
        </p:txBody>
      </p:sp>
      <p:sp>
        <p:nvSpPr>
          <p:cNvPr id="22" name="Text 18"/>
          <p:cNvSpPr/>
          <p:nvPr>
            <p:custDataLst>
              <p:tags r:id="rId7"/>
            </p:custDataLst>
          </p:nvPr>
        </p:nvSpPr>
        <p:spPr>
          <a:xfrm>
            <a:off x="6884630" y="3734003"/>
            <a:ext cx="4877105" cy="1623988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项目通过满足师生与商家的双向需求，为师生节省时间、提升就餐体验，为商家提升运营效率、减少浪费，实现校园生态的双赢。</a:t>
            </a:r>
            <a:endParaRPr lang="en-US" sz="16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9710" y="1030605"/>
            <a:ext cx="3583940" cy="268795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39085" y="2656205"/>
            <a:ext cx="3655695" cy="27406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6001385" y="586105"/>
            <a:ext cx="5621020" cy="6530340"/>
          </a:xfrm>
          <a:prstGeom prst="star4">
            <a:avLst/>
          </a:prstGeom>
          <a:solidFill>
            <a:srgbClr val="E8F87A">
              <a:alpha val="20000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1500000">
            <a:off x="6001385" y="586105"/>
            <a:ext cx="5621020" cy="65303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2879725"/>
            <a:ext cx="735330" cy="807720"/>
          </a:xfrm>
          <a:prstGeom prst="rect">
            <a:avLst/>
          </a:prstGeom>
          <a:solidFill>
            <a:srgbClr val="EAF98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0" y="2879725"/>
            <a:ext cx="735330" cy="807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74397" y="2766695"/>
            <a:ext cx="5633720" cy="183261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70145" y="2200910"/>
            <a:ext cx="913765" cy="1131570"/>
          </a:xfrm>
          <a:prstGeom prst="star4">
            <a:avLst/>
          </a:prstGeom>
          <a:solidFill>
            <a:srgbClr val="ACD78E">
              <a:alpha val="7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70145" y="2200910"/>
            <a:ext cx="913765" cy="1131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0420" y="1602105"/>
            <a:ext cx="4822825" cy="38588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0" dirty="0">
                <a:solidFill>
                  <a:srgbClr val="E8F87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03</a:t>
            </a:r>
            <a:endParaRPr lang="en-US" sz="1600" dirty="0"/>
          </a:p>
        </p:txBody>
      </p:sp>
      <p:pic>
        <p:nvPicPr>
          <p:cNvPr id="10" name="Image 0" descr="https://test-kimi-img.moonshot.cn/pub/slides/slides_tmpl/image/25-08-11-18:10:17-d2cs32f0ctitcgma306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34035"/>
            <a:ext cx="2377440" cy="3017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573020" y="378460"/>
            <a:ext cx="7434580" cy="67627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师生端</a:t>
            </a:r>
            <a:r>
              <a:rPr lang="zh-CN" altLang="en-US" sz="4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功能</a:t>
            </a:r>
          </a:p>
        </p:txBody>
      </p:sp>
      <p:sp>
        <p:nvSpPr>
          <p:cNvPr id="4" name="Shape 1"/>
          <p:cNvSpPr/>
          <p:nvPr/>
        </p:nvSpPr>
        <p:spPr>
          <a:xfrm rot="1500000">
            <a:off x="10013387" y="-257031"/>
            <a:ext cx="1991995" cy="2976245"/>
          </a:xfrm>
          <a:prstGeom prst="star4">
            <a:avLst/>
          </a:prstGeom>
          <a:solidFill>
            <a:srgbClr val="E8F87A">
              <a:alpha val="63137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 rot="1500000">
            <a:off x="10013387" y="-257031"/>
            <a:ext cx="1991995" cy="29762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rot="19500000">
            <a:off x="231187" y="-236377"/>
            <a:ext cx="1991995" cy="2976245"/>
          </a:xfrm>
          <a:prstGeom prst="star4">
            <a:avLst/>
          </a:prstGeom>
          <a:solidFill>
            <a:srgbClr val="E8F87A">
              <a:alpha val="63137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 rot="19500000">
            <a:off x="231187" y="-236377"/>
            <a:ext cx="1991995" cy="29762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163209" y="2931809"/>
            <a:ext cx="793383" cy="1117541"/>
          </a:xfrm>
          <a:prstGeom prst="star4">
            <a:avLst>
              <a:gd name="adj" fmla="val 14471"/>
            </a:avLst>
          </a:prstGeom>
          <a:solidFill>
            <a:srgbClr val="EAF982"/>
          </a:solidFill>
          <a:effectLst>
            <a:outerShdw blurRad="50800" dist="50800" dir="2700000" algn="bl" rotWithShape="0">
              <a:srgbClr val="000000">
                <a:alpha val="74118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3163209" y="2931809"/>
            <a:ext cx="793383" cy="111754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87440" y="5372381"/>
            <a:ext cx="6488976" cy="145944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0"/>
          <p:cNvSpPr/>
          <p:nvPr>
            <p:custDataLst>
              <p:tags r:id="rId1"/>
            </p:custDataLst>
          </p:nvPr>
        </p:nvSpPr>
        <p:spPr>
          <a:xfrm>
            <a:off x="7045806" y="2247130"/>
            <a:ext cx="4739069" cy="1242362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2"/>
          <p:cNvSpPr/>
          <p:nvPr>
            <p:custDataLst>
              <p:tags r:id="rId2"/>
            </p:custDataLst>
          </p:nvPr>
        </p:nvSpPr>
        <p:spPr>
          <a:xfrm>
            <a:off x="7045806" y="3843001"/>
            <a:ext cx="4739069" cy="1242362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Text 14"/>
          <p:cNvSpPr/>
          <p:nvPr>
            <p:custDataLst>
              <p:tags r:id="rId3"/>
            </p:custDataLst>
          </p:nvPr>
        </p:nvSpPr>
        <p:spPr>
          <a:xfrm>
            <a:off x="7045805" y="5372381"/>
            <a:ext cx="4739069" cy="145944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。</a:t>
            </a:r>
            <a:endParaRPr lang="en-US" sz="1600" dirty="0"/>
          </a:p>
        </p:txBody>
      </p:sp>
      <p:sp>
        <p:nvSpPr>
          <p:cNvPr id="21" name="文本框 20"/>
          <p:cNvSpPr txBox="1"/>
          <p:nvPr/>
        </p:nvSpPr>
        <p:spPr>
          <a:xfrm>
            <a:off x="6631940" y="921385"/>
            <a:ext cx="4930140" cy="19883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4. </a:t>
            </a:r>
            <a:r>
              <a:rPr lang="zh-CN" altLang="en-US"/>
              <a:t>订单中心</a:t>
            </a:r>
          </a:p>
          <a:p>
            <a:r>
              <a:rPr lang="zh-CN" altLang="en-US"/>
              <a:t>多状态订单列表：</a:t>
            </a:r>
            <a:r>
              <a:rPr lang="en-US" altLang="zh-CN"/>
              <a:t> </a:t>
            </a:r>
            <a:r>
              <a:rPr lang="zh-CN" altLang="en-US"/>
              <a:t>全部、待支付、待接单、制作中、待取餐、已完成、已取消。</a:t>
            </a:r>
            <a:endParaRPr lang="en-US" altLang="zh-CN"/>
          </a:p>
          <a:p>
            <a:r>
              <a:rPr lang="zh-CN" altLang="en-US"/>
              <a:t>订单状态追踪：</a:t>
            </a:r>
            <a:endParaRPr lang="en-US" altLang="zh-CN"/>
          </a:p>
          <a:p>
            <a:r>
              <a:rPr lang="zh-CN" altLang="en-US"/>
              <a:t>制作中：</a:t>
            </a:r>
            <a:r>
              <a:rPr lang="en-US" altLang="zh-CN"/>
              <a:t> </a:t>
            </a:r>
            <a:r>
              <a:rPr lang="zh-CN" altLang="en-US"/>
              <a:t>显示动态进度条（已接单</a:t>
            </a:r>
            <a:r>
              <a:rPr lang="en-US" altLang="zh-CN"/>
              <a:t>-&gt;</a:t>
            </a:r>
            <a:r>
              <a:rPr lang="zh-CN" altLang="en-US"/>
              <a:t>制作中</a:t>
            </a:r>
            <a:r>
              <a:rPr lang="en-US" altLang="zh-CN"/>
              <a:t>-&gt;</a:t>
            </a:r>
            <a:r>
              <a:rPr lang="zh-CN" altLang="en-US"/>
              <a:t>待取餐）。</a:t>
            </a:r>
            <a:endParaRPr lang="en-US" altLang="zh-CN"/>
          </a:p>
          <a:p>
            <a:r>
              <a:rPr lang="zh-CN" altLang="en-US"/>
              <a:t>待取餐：</a:t>
            </a:r>
            <a:r>
              <a:rPr lang="en-US" altLang="zh-CN"/>
              <a:t> </a:t>
            </a:r>
            <a:r>
              <a:rPr lang="zh-CN" altLang="en-US"/>
              <a:t>突出显示取餐号、窗口号和</a:t>
            </a:r>
            <a:r>
              <a:rPr lang="en-US" altLang="zh-CN"/>
              <a:t>“</a:t>
            </a:r>
            <a:r>
              <a:rPr lang="zh-CN" altLang="en-US"/>
              <a:t>一键导航</a:t>
            </a:r>
            <a:r>
              <a:rPr lang="en-US" altLang="zh-CN"/>
              <a:t>”</a:t>
            </a:r>
            <a:r>
              <a:rPr lang="zh-CN" altLang="en-US"/>
              <a:t>按钮（链接至食堂地图）。</a:t>
            </a:r>
            <a:endParaRPr lang="en-US" altLang="zh-CN"/>
          </a:p>
          <a:p>
            <a:r>
              <a:rPr lang="zh-CN" altLang="en-US"/>
              <a:t>订单操作：</a:t>
            </a:r>
            <a:endParaRPr lang="en-US" altLang="zh-CN"/>
          </a:p>
          <a:p>
            <a:r>
              <a:rPr lang="zh-CN" altLang="en-US"/>
              <a:t>待支付</a:t>
            </a:r>
            <a:r>
              <a:rPr lang="en-US" altLang="zh-CN"/>
              <a:t>/</a:t>
            </a:r>
            <a:r>
              <a:rPr lang="zh-CN" altLang="en-US"/>
              <a:t>待接单：</a:t>
            </a:r>
            <a:r>
              <a:rPr lang="en-US" altLang="zh-CN"/>
              <a:t> </a:t>
            </a:r>
            <a:r>
              <a:rPr lang="zh-CN" altLang="en-US"/>
              <a:t>可取消订单。</a:t>
            </a:r>
            <a:endParaRPr lang="en-US" altLang="zh-CN"/>
          </a:p>
          <a:p>
            <a:r>
              <a:rPr lang="zh-CN" altLang="en-US"/>
              <a:t>已完成：</a:t>
            </a:r>
            <a:r>
              <a:rPr lang="en-US" altLang="zh-CN"/>
              <a:t> </a:t>
            </a:r>
            <a:r>
              <a:rPr lang="zh-CN" altLang="en-US"/>
              <a:t>可</a:t>
            </a:r>
            <a:r>
              <a:rPr lang="en-US" altLang="zh-CN"/>
              <a:t>“</a:t>
            </a:r>
            <a:r>
              <a:rPr lang="zh-CN" altLang="en-US"/>
              <a:t>申请售后</a:t>
            </a:r>
            <a:r>
              <a:rPr lang="en-US" altLang="zh-CN"/>
              <a:t>”</a:t>
            </a:r>
            <a:r>
              <a:rPr lang="zh-CN" altLang="en-US"/>
              <a:t>（退款</a:t>
            </a:r>
            <a:r>
              <a:rPr lang="en-US" altLang="zh-CN"/>
              <a:t>/</a:t>
            </a:r>
            <a:r>
              <a:rPr lang="zh-CN" altLang="en-US"/>
              <a:t>投诉）、</a:t>
            </a:r>
            <a:r>
              <a:rPr lang="en-US" altLang="zh-CN"/>
              <a:t>“</a:t>
            </a:r>
            <a:r>
              <a:rPr lang="zh-CN" altLang="en-US"/>
              <a:t>再来一单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评价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/>
              <a:t>所有订单：</a:t>
            </a:r>
            <a:r>
              <a:rPr lang="en-US" altLang="zh-CN"/>
              <a:t> </a:t>
            </a:r>
            <a:r>
              <a:rPr lang="zh-CN" altLang="en-US"/>
              <a:t>可查看订单详情、联系商家</a:t>
            </a:r>
            <a:r>
              <a:rPr lang="en-US" altLang="zh-CN"/>
              <a:t>/</a:t>
            </a:r>
            <a:r>
              <a:rPr lang="zh-CN" altLang="en-US"/>
              <a:t>客服。</a:t>
            </a:r>
            <a:endParaRPr lang="en-US" altLang="zh-CN"/>
          </a:p>
          <a:p>
            <a:r>
              <a:rPr lang="en-US" altLang="zh-CN"/>
              <a:t>5. </a:t>
            </a:r>
            <a:r>
              <a:rPr lang="zh-CN" altLang="en-US"/>
              <a:t>个人中心</a:t>
            </a:r>
          </a:p>
          <a:p>
            <a:r>
              <a:rPr lang="zh-CN" altLang="en-US"/>
              <a:t>我的资产：</a:t>
            </a:r>
            <a:r>
              <a:rPr lang="en-US" altLang="zh-CN"/>
              <a:t> </a:t>
            </a:r>
            <a:r>
              <a:rPr lang="zh-CN" altLang="en-US"/>
              <a:t>余额、优惠券、积分。</a:t>
            </a:r>
            <a:endParaRPr lang="en-US" altLang="zh-CN"/>
          </a:p>
          <a:p>
            <a:r>
              <a:rPr lang="zh-CN" altLang="en-US"/>
              <a:t>我的关系：</a:t>
            </a:r>
            <a:r>
              <a:rPr lang="en-US" altLang="zh-CN"/>
              <a:t> </a:t>
            </a:r>
            <a:r>
              <a:rPr lang="zh-CN" altLang="en-US"/>
              <a:t>收货地址（如支持外卖）、绑定的校园卡。</a:t>
            </a:r>
            <a:endParaRPr lang="en-US" altLang="zh-CN"/>
          </a:p>
          <a:p>
            <a:r>
              <a:rPr lang="zh-CN" altLang="en-US"/>
              <a:t>我的足迹：</a:t>
            </a:r>
            <a:r>
              <a:rPr lang="en-US" altLang="zh-CN"/>
              <a:t> </a:t>
            </a:r>
            <a:r>
              <a:rPr lang="zh-CN" altLang="en-US"/>
              <a:t>我的收藏（菜品</a:t>
            </a:r>
            <a:r>
              <a:rPr lang="en-US" altLang="zh-CN"/>
              <a:t>/</a:t>
            </a:r>
            <a:r>
              <a:rPr lang="zh-CN" altLang="en-US"/>
              <a:t>食堂）、浏览历史、我的评价。</a:t>
            </a:r>
            <a:endParaRPr lang="en-US" altLang="zh-CN"/>
          </a:p>
          <a:p>
            <a:r>
              <a:rPr lang="zh-CN" altLang="en-US"/>
              <a:t>设置与反馈：</a:t>
            </a:r>
            <a:r>
              <a:rPr lang="en-US" altLang="zh-CN"/>
              <a:t> </a:t>
            </a:r>
            <a:r>
              <a:rPr lang="zh-CN" altLang="en-US"/>
              <a:t>账号安全设置、消息通知设置、帮助与反馈、联系客服。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0985" y="969010"/>
            <a:ext cx="6615430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>
                <a:sym typeface="+mn-ea"/>
              </a:rPr>
              <a:t>1. </a:t>
            </a:r>
            <a:r>
              <a:rPr lang="zh-CN" altLang="en-US" sz="1600">
                <a:sym typeface="+mn-ea"/>
              </a:rPr>
              <a:t>首页</a:t>
            </a:r>
            <a:r>
              <a:rPr lang="en-US" altLang="zh-CN" sz="1600">
                <a:sym typeface="+mn-ea"/>
              </a:rPr>
              <a:t> &amp; </a:t>
            </a:r>
            <a:r>
              <a:rPr lang="zh-CN" altLang="en-US" sz="1600">
                <a:sym typeface="+mn-ea"/>
              </a:rPr>
              <a:t>发现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智能食堂列表：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显示所有食堂，并附带实时状态（如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营业中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忙碌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已打烊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“10</a:t>
            </a:r>
            <a:r>
              <a:rPr lang="zh-CN" altLang="en-US" sz="1600">
                <a:sym typeface="+mn-ea"/>
              </a:rPr>
              <a:t>分钟后打烊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）。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全局公告与轮播图：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发布平台公告（如系统更新）、食堂促销（如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食堂新菜上线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）和校园通知（如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国庆节营业时间调整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）。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2. </a:t>
            </a:r>
            <a:r>
              <a:rPr lang="zh-CN" altLang="en-US" sz="1600">
                <a:sym typeface="+mn-ea"/>
              </a:rPr>
              <a:t>搜索</a:t>
            </a:r>
            <a:r>
              <a:rPr lang="en-US" altLang="zh-CN" sz="1600">
                <a:sym typeface="+mn-ea"/>
              </a:rPr>
              <a:t> &amp; </a:t>
            </a:r>
            <a:r>
              <a:rPr lang="zh-CN" altLang="en-US" sz="1600">
                <a:sym typeface="+mn-ea"/>
              </a:rPr>
              <a:t>筛选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全局搜索框：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支持按菜品名称、食堂名称进行关键词搜索。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高级筛选器：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选择食堂：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筛选特定食堂的菜品。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按类别：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荤菜、素菜、汤粥、面食等。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按价格：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设置价格区间（如</a:t>
            </a:r>
            <a:r>
              <a:rPr lang="en-US" altLang="zh-CN" sz="1600">
                <a:sym typeface="+mn-ea"/>
              </a:rPr>
              <a:t>5-15</a:t>
            </a:r>
            <a:r>
              <a:rPr lang="zh-CN" altLang="en-US" sz="1600">
                <a:sym typeface="+mn-ea"/>
              </a:rPr>
              <a:t>元）。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特殊标签：</a:t>
            </a:r>
            <a:r>
              <a:rPr lang="en-US" altLang="zh-CN" sz="1600">
                <a:sym typeface="+mn-ea"/>
              </a:rPr>
              <a:t> “</a:t>
            </a:r>
            <a:r>
              <a:rPr lang="zh-CN" altLang="en-US" sz="1600">
                <a:sym typeface="+mn-ea"/>
              </a:rPr>
              <a:t>辣度可选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加急可选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低脂健康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等。</a:t>
            </a:r>
          </a:p>
          <a:p>
            <a:r>
              <a:rPr lang="en-US" altLang="zh-CN" sz="1600">
                <a:sym typeface="+mn-ea"/>
              </a:rPr>
              <a:t>3. </a:t>
            </a:r>
            <a:r>
              <a:rPr lang="zh-CN" altLang="en-US" sz="1600">
                <a:sym typeface="+mn-ea"/>
              </a:rPr>
              <a:t>点餐与下单流程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菜品详情页：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高清菜品图、价格、月销量、详细描述（主要食材）。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规格选择：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如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大份</a:t>
            </a:r>
            <a:r>
              <a:rPr lang="en-US" altLang="zh-CN" sz="1600">
                <a:sym typeface="+mn-ea"/>
              </a:rPr>
              <a:t>/</a:t>
            </a:r>
            <a:r>
              <a:rPr lang="zh-CN" altLang="en-US" sz="1600">
                <a:sym typeface="+mn-ea"/>
              </a:rPr>
              <a:t>小份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加辣</a:t>
            </a:r>
            <a:r>
              <a:rPr lang="en-US" altLang="zh-CN" sz="1600">
                <a:sym typeface="+mn-ea"/>
              </a:rPr>
              <a:t>/</a:t>
            </a:r>
            <a:r>
              <a:rPr lang="zh-CN" altLang="en-US" sz="1600">
                <a:sym typeface="+mn-ea"/>
              </a:rPr>
              <a:t>免辣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。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功能按钮：</a:t>
            </a:r>
            <a:r>
              <a:rPr lang="en-US" altLang="zh-CN" sz="1600">
                <a:sym typeface="+mn-ea"/>
              </a:rPr>
              <a:t> “</a:t>
            </a:r>
            <a:r>
              <a:rPr lang="zh-CN" altLang="en-US" sz="1600">
                <a:sym typeface="+mn-ea"/>
              </a:rPr>
              <a:t>加入购物车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立即购买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收藏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。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智能购物车：增</a:t>
            </a:r>
            <a:r>
              <a:rPr lang="en-US" altLang="zh-CN" sz="1600">
                <a:sym typeface="+mn-ea"/>
              </a:rPr>
              <a:t>/</a:t>
            </a:r>
            <a:r>
              <a:rPr lang="zh-CN" altLang="en-US" sz="1600">
                <a:sym typeface="+mn-ea"/>
              </a:rPr>
              <a:t>减</a:t>
            </a:r>
            <a:r>
              <a:rPr lang="en-US" altLang="zh-CN" sz="1600">
                <a:sym typeface="+mn-ea"/>
              </a:rPr>
              <a:t>/</a:t>
            </a:r>
            <a:r>
              <a:rPr lang="zh-CN" altLang="en-US" sz="1600">
                <a:sym typeface="+mn-ea"/>
              </a:rPr>
              <a:t>清空操作。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显示总价和打包费。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订单确认页：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取餐模式：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立即取餐（系统估算时间）或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预约取餐（选择未来</a:t>
            </a:r>
            <a:r>
              <a:rPr lang="en-US" altLang="zh-CN" sz="1600">
                <a:sym typeface="+mn-ea"/>
              </a:rPr>
              <a:t>15-30</a:t>
            </a:r>
            <a:r>
              <a:rPr lang="zh-CN" altLang="en-US" sz="1600">
                <a:sym typeface="+mn-ea"/>
              </a:rPr>
              <a:t>分钟时段）。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支付方式：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微信支付、校园卡余额（需绑定）。</a:t>
            </a:r>
            <a:endParaRPr lang="en-US" altLang="zh-CN" sz="1600"/>
          </a:p>
          <a:p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857885" y="-1056005"/>
            <a:ext cx="6858635" cy="8855075"/>
          </a:xfrm>
          <a:custGeom>
            <a:avLst/>
            <a:gdLst/>
            <a:ahLst/>
            <a:cxnLst/>
            <a:rect l="l" t="t" r="r" b="b"/>
            <a:pathLst>
              <a:path w="6858635" h="8855075">
                <a:moveTo>
                  <a:pt x="11430" y="4932400"/>
                </a:moveTo>
                <a:lnTo>
                  <a:pt x="6858635" y="0"/>
                </a:lnTo>
                <a:lnTo>
                  <a:pt x="6858635" y="8855075"/>
                </a:lnTo>
                <a:lnTo>
                  <a:pt x="0" y="8855075"/>
                </a:lnTo>
                <a:lnTo>
                  <a:pt x="11430" y="4932400"/>
                </a:lnTo>
                <a:close/>
              </a:path>
            </a:pathLst>
          </a:custGeom>
          <a:solidFill>
            <a:srgbClr val="E8F87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400000">
            <a:off x="998220" y="-998220"/>
            <a:ext cx="6858635" cy="8855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2860" y="393065"/>
            <a:ext cx="3634740" cy="169227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商家端</a:t>
            </a:r>
            <a:r>
              <a:rPr lang="zh-CN" altLang="en-US" sz="4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功能</a:t>
            </a:r>
          </a:p>
        </p:txBody>
      </p:sp>
      <p:pic>
        <p:nvPicPr>
          <p:cNvPr id="7" name="Image 2" descr="https://test-kimi-img.moonshot.cn/pub/slides/slides_tmpl/image/25-08-11-18:10:14-d2cs31n0ctitcgma30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05" y="-125096"/>
            <a:ext cx="1399774" cy="219456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74040" y="1621155"/>
            <a:ext cx="5050155" cy="63563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商家端功能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66090" y="2250440"/>
            <a:ext cx="6383020" cy="417195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商家端核心目标是高效处理订单和管理菜品。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dirty="0"/>
              <a:t>1. </a:t>
            </a:r>
            <a:r>
              <a:rPr lang="zh-CN" altLang="en-US" sz="1600" dirty="0"/>
              <a:t>营业台（核心工作区）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实时订单看板：</a:t>
            </a:r>
            <a:r>
              <a:rPr lang="en-US" altLang="zh-CN" sz="1600" dirty="0"/>
              <a:t> </a:t>
            </a:r>
            <a:r>
              <a:rPr lang="zh-CN" altLang="en-US" sz="1600" dirty="0"/>
              <a:t>类似打车司机端，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新订单以大卡片形式弹出并语音播报。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订单流程管理：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待处理：</a:t>
            </a:r>
            <a:r>
              <a:rPr lang="en-US" altLang="zh-CN" sz="1600" dirty="0"/>
              <a:t> </a:t>
            </a:r>
            <a:r>
              <a:rPr lang="zh-CN" altLang="en-US" sz="1600" dirty="0"/>
              <a:t>新订单，可</a:t>
            </a:r>
            <a:r>
              <a:rPr lang="en-US" altLang="zh-CN" sz="1600" dirty="0"/>
              <a:t>“</a:t>
            </a:r>
            <a:r>
              <a:rPr lang="zh-CN" altLang="en-US" sz="1600" dirty="0"/>
              <a:t>接单</a:t>
            </a:r>
            <a:r>
              <a:rPr lang="en-US" altLang="zh-CN" sz="1600" dirty="0"/>
              <a:t>”</a:t>
            </a:r>
            <a:r>
              <a:rPr lang="zh-CN" altLang="en-US" sz="1600" dirty="0"/>
              <a:t>或</a:t>
            </a:r>
            <a:r>
              <a:rPr lang="en-US" altLang="zh-CN" sz="1600" dirty="0"/>
              <a:t>“</a:t>
            </a:r>
            <a:r>
              <a:rPr lang="zh-CN" altLang="en-US" sz="1600" dirty="0"/>
              <a:t>拒单</a:t>
            </a:r>
            <a:r>
              <a:rPr lang="en-US" altLang="zh-CN" sz="1600" dirty="0"/>
              <a:t>”</a:t>
            </a:r>
            <a:r>
              <a:rPr lang="zh-CN" altLang="en-US" sz="1600" dirty="0"/>
              <a:t>（需填写理由，如售罄）。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制作中：</a:t>
            </a:r>
            <a:r>
              <a:rPr lang="en-US" altLang="zh-CN" sz="1600" dirty="0"/>
              <a:t> </a:t>
            </a:r>
            <a:r>
              <a:rPr lang="zh-CN" altLang="en-US" sz="1600" dirty="0"/>
              <a:t>接单后，可点击</a:t>
            </a:r>
            <a:r>
              <a:rPr lang="en-US" altLang="zh-CN" sz="1600" dirty="0"/>
              <a:t>“</a:t>
            </a:r>
            <a:r>
              <a:rPr lang="zh-CN" altLang="en-US" sz="1600" dirty="0"/>
              <a:t>开始制作</a:t>
            </a:r>
            <a:r>
              <a:rPr lang="en-US" altLang="zh-CN" sz="1600" dirty="0"/>
              <a:t>”</a:t>
            </a:r>
            <a:r>
              <a:rPr lang="zh-CN" altLang="en-US" sz="1600" dirty="0"/>
              <a:t>、</a:t>
            </a:r>
            <a:r>
              <a:rPr lang="en-US" altLang="zh-CN" sz="1600" dirty="0"/>
              <a:t>“</a:t>
            </a:r>
            <a:r>
              <a:rPr lang="zh-CN" altLang="en-US" sz="1600" dirty="0"/>
              <a:t>完成制作</a:t>
            </a:r>
            <a:r>
              <a:rPr lang="en-US" altLang="zh-CN" sz="1600" dirty="0"/>
              <a:t>”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待取餐：</a:t>
            </a:r>
            <a:r>
              <a:rPr lang="en-US" altLang="zh-CN" sz="1600" dirty="0"/>
              <a:t> </a:t>
            </a:r>
            <a:r>
              <a:rPr lang="zh-CN" altLang="en-US" sz="1600" dirty="0"/>
              <a:t>生成取餐号，用户取餐后点击</a:t>
            </a:r>
            <a:r>
              <a:rPr lang="en-US" altLang="zh-CN" sz="1600" dirty="0"/>
              <a:t>“</a:t>
            </a:r>
            <a:r>
              <a:rPr lang="zh-CN" altLang="en-US" sz="1600" dirty="0"/>
              <a:t>确认取餐</a:t>
            </a:r>
            <a:r>
              <a:rPr lang="en-US" altLang="zh-CN" sz="1600" dirty="0"/>
              <a:t>”</a:t>
            </a:r>
            <a:r>
              <a:rPr lang="zh-CN" altLang="en-US" sz="1600" dirty="0"/>
              <a:t>完成订单。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一键打印：</a:t>
            </a:r>
            <a:r>
              <a:rPr lang="en-US" altLang="zh-CN" sz="1600" dirty="0"/>
              <a:t> </a:t>
            </a:r>
            <a:r>
              <a:rPr lang="zh-CN" altLang="en-US" sz="1600" dirty="0"/>
              <a:t>接单后自动打印厨房单（含菜品、备注、取餐号）。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dirty="0"/>
              <a:t>2. </a:t>
            </a:r>
            <a:r>
              <a:rPr lang="zh-CN" altLang="en-US" sz="1600" dirty="0"/>
              <a:t>商品管理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菜品管理：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增删改查：</a:t>
            </a:r>
            <a:r>
              <a:rPr lang="en-US" altLang="zh-CN" sz="1600" dirty="0"/>
              <a:t> </a:t>
            </a:r>
            <a:r>
              <a:rPr lang="zh-CN" altLang="en-US" sz="1600" dirty="0"/>
              <a:t>上传图片、设置菜品名、价格、描述、分类、口味标签。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库存与状态：</a:t>
            </a:r>
            <a:r>
              <a:rPr lang="en-US" altLang="zh-CN" sz="1600" dirty="0"/>
              <a:t> </a:t>
            </a:r>
            <a:r>
              <a:rPr lang="zh-CN" altLang="en-US" sz="1600" dirty="0"/>
              <a:t>手动设置</a:t>
            </a:r>
            <a:r>
              <a:rPr lang="en-US" altLang="zh-CN" sz="1600" dirty="0"/>
              <a:t>“</a:t>
            </a:r>
            <a:r>
              <a:rPr lang="zh-CN" altLang="en-US" sz="1600" dirty="0"/>
              <a:t>售罄</a:t>
            </a:r>
            <a:r>
              <a:rPr lang="en-US" altLang="zh-CN" sz="1600" dirty="0"/>
              <a:t>”</a:t>
            </a:r>
            <a:r>
              <a:rPr lang="zh-CN" altLang="en-US" sz="1600" dirty="0"/>
              <a:t>或设置库存数量，售完自动下架。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批量操作：</a:t>
            </a:r>
            <a:r>
              <a:rPr lang="en-US" altLang="zh-CN" sz="1600" dirty="0"/>
              <a:t> </a:t>
            </a:r>
            <a:r>
              <a:rPr lang="zh-CN" altLang="en-US" sz="1600" dirty="0"/>
              <a:t>批量上</a:t>
            </a:r>
            <a:r>
              <a:rPr lang="en-US" altLang="zh-CN" sz="1600" dirty="0"/>
              <a:t>/</a:t>
            </a:r>
            <a:r>
              <a:rPr lang="zh-CN" altLang="en-US" sz="1600" dirty="0"/>
              <a:t>下架、批量调价、导出菜品数据。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菜单管理：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时段菜单：</a:t>
            </a:r>
            <a:r>
              <a:rPr lang="en-US" altLang="zh-CN" sz="1600" dirty="0"/>
              <a:t> </a:t>
            </a:r>
            <a:r>
              <a:rPr lang="zh-CN" altLang="en-US" sz="1600" dirty="0"/>
              <a:t>预设早餐、午餐、晚餐菜单，系统自动切换。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快速操作：</a:t>
            </a:r>
            <a:r>
              <a:rPr lang="en-US" altLang="zh-CN" sz="1600" dirty="0"/>
              <a:t> “</a:t>
            </a:r>
            <a:r>
              <a:rPr lang="zh-CN" altLang="en-US" sz="1600" dirty="0"/>
              <a:t>一键上架所有菜品</a:t>
            </a:r>
            <a:r>
              <a:rPr lang="en-US" altLang="zh-CN" sz="1600" dirty="0"/>
              <a:t>”</a:t>
            </a:r>
            <a:r>
              <a:rPr lang="zh-CN" altLang="en-US" sz="1600" dirty="0"/>
              <a:t>、</a:t>
            </a:r>
            <a:r>
              <a:rPr lang="en-US" altLang="zh-CN" sz="1600" dirty="0"/>
              <a:t>“</a:t>
            </a:r>
            <a:r>
              <a:rPr lang="zh-CN" altLang="en-US" sz="1600" dirty="0"/>
              <a:t>一键打烊</a:t>
            </a:r>
            <a:r>
              <a:rPr lang="en-US" altLang="zh-CN" sz="1600" dirty="0"/>
              <a:t>”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endParaRPr lang="zh-CN" alt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915" y="422910"/>
            <a:ext cx="5465445" cy="30067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611620" y="3454400"/>
            <a:ext cx="5439410" cy="542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dirty="0">
                <a:sym typeface="+mn-ea"/>
              </a:rPr>
              <a:t>3. </a:t>
            </a:r>
            <a:r>
              <a:rPr lang="zh-CN" altLang="en-US" sz="1600" dirty="0">
                <a:sym typeface="+mn-ea"/>
              </a:rPr>
              <a:t>营销与促销</a:t>
            </a:r>
            <a:endParaRPr lang="zh-CN" altLang="en-US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>
                <a:sym typeface="+mn-ea"/>
              </a:rPr>
              <a:t>商家券：</a:t>
            </a:r>
            <a:r>
              <a:rPr lang="en-US" altLang="zh-CN" sz="1600" dirty="0">
                <a:sym typeface="+mn-ea"/>
              </a:rPr>
              <a:t> </a:t>
            </a:r>
            <a:r>
              <a:rPr lang="zh-CN" altLang="en-US" sz="1600" dirty="0">
                <a:sym typeface="+mn-ea"/>
              </a:rPr>
              <a:t>创建仅在本食堂使用的满减券、折扣券。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>
                <a:sym typeface="+mn-ea"/>
              </a:rPr>
              <a:t>店内活动：</a:t>
            </a:r>
            <a:r>
              <a:rPr lang="en-US" altLang="zh-CN" sz="1600" dirty="0">
                <a:sym typeface="+mn-ea"/>
              </a:rPr>
              <a:t> </a:t>
            </a:r>
            <a:r>
              <a:rPr lang="zh-CN" altLang="en-US" sz="1600" dirty="0">
                <a:sym typeface="+mn-ea"/>
              </a:rPr>
              <a:t>创建</a:t>
            </a:r>
            <a:r>
              <a:rPr lang="en-US" altLang="zh-CN" sz="1600" dirty="0">
                <a:sym typeface="+mn-ea"/>
              </a:rPr>
              <a:t>“</a:t>
            </a:r>
            <a:r>
              <a:rPr lang="zh-CN" altLang="en-US" sz="1600" dirty="0">
                <a:sym typeface="+mn-ea"/>
              </a:rPr>
              <a:t>满</a:t>
            </a:r>
            <a:r>
              <a:rPr lang="en-US" altLang="zh-CN" sz="1600" dirty="0">
                <a:sym typeface="+mn-ea"/>
              </a:rPr>
              <a:t>XX</a:t>
            </a:r>
            <a:r>
              <a:rPr lang="zh-CN" altLang="en-US" sz="1600" dirty="0">
                <a:sym typeface="+mn-ea"/>
              </a:rPr>
              <a:t>元减</a:t>
            </a:r>
            <a:r>
              <a:rPr lang="en-US" altLang="zh-CN" sz="1600" dirty="0">
                <a:sym typeface="+mn-ea"/>
              </a:rPr>
              <a:t>XX</a:t>
            </a:r>
            <a:r>
              <a:rPr lang="zh-CN" altLang="en-US" sz="1600" dirty="0">
                <a:sym typeface="+mn-ea"/>
              </a:rPr>
              <a:t>元</a:t>
            </a:r>
            <a:r>
              <a:rPr lang="en-US" altLang="zh-CN" sz="1600" dirty="0">
                <a:sym typeface="+mn-ea"/>
              </a:rPr>
              <a:t>”</a:t>
            </a:r>
            <a:r>
              <a:rPr lang="zh-CN" altLang="en-US" sz="1600" dirty="0">
                <a:sym typeface="+mn-ea"/>
              </a:rPr>
              <a:t>的满减活动、设置</a:t>
            </a:r>
            <a:r>
              <a:rPr lang="en-US" altLang="zh-CN" sz="1600" dirty="0">
                <a:sym typeface="+mn-ea"/>
              </a:rPr>
              <a:t>“</a:t>
            </a:r>
            <a:r>
              <a:rPr lang="zh-CN" altLang="en-US" sz="1600" dirty="0">
                <a:sym typeface="+mn-ea"/>
              </a:rPr>
              <a:t>折扣菜品</a:t>
            </a:r>
            <a:r>
              <a:rPr lang="en-US" altLang="zh-CN" sz="1600" dirty="0">
                <a:sym typeface="+mn-ea"/>
              </a:rPr>
              <a:t>”</a:t>
            </a:r>
            <a:r>
              <a:rPr lang="zh-CN" altLang="en-US" sz="1600" dirty="0">
                <a:sym typeface="+mn-ea"/>
              </a:rPr>
              <a:t>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>
                <a:sym typeface="+mn-ea"/>
              </a:rPr>
              <a:t>优惠套餐：</a:t>
            </a:r>
            <a:r>
              <a:rPr lang="en-US" altLang="zh-CN" sz="1600" dirty="0">
                <a:sym typeface="+mn-ea"/>
              </a:rPr>
              <a:t> </a:t>
            </a:r>
            <a:r>
              <a:rPr lang="zh-CN" altLang="en-US" sz="1600" dirty="0">
                <a:sym typeface="+mn-ea"/>
              </a:rPr>
              <a:t>组合菜品成套餐，设置套餐价，提升客单价。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dirty="0">
                <a:sym typeface="+mn-ea"/>
              </a:rPr>
              <a:t>4. </a:t>
            </a:r>
            <a:r>
              <a:rPr lang="zh-CN" altLang="en-US" sz="1600" dirty="0">
                <a:sym typeface="+mn-ea"/>
              </a:rPr>
              <a:t>数据统计（商家视角）</a:t>
            </a:r>
            <a:endParaRPr lang="zh-CN" altLang="en-US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>
                <a:sym typeface="+mn-ea"/>
              </a:rPr>
              <a:t>核心数据：</a:t>
            </a:r>
            <a:r>
              <a:rPr lang="en-US" altLang="zh-CN" sz="1600" dirty="0">
                <a:sym typeface="+mn-ea"/>
              </a:rPr>
              <a:t> </a:t>
            </a:r>
            <a:r>
              <a:rPr lang="zh-CN" altLang="en-US" sz="1600" dirty="0">
                <a:sym typeface="+mn-ea"/>
              </a:rPr>
              <a:t>当日</a:t>
            </a:r>
            <a:r>
              <a:rPr lang="en-US" altLang="zh-CN" sz="1600" dirty="0">
                <a:sym typeface="+mn-ea"/>
              </a:rPr>
              <a:t>/</a:t>
            </a:r>
            <a:r>
              <a:rPr lang="zh-CN" altLang="en-US" sz="1600" dirty="0">
                <a:sym typeface="+mn-ea"/>
              </a:rPr>
              <a:t>当周</a:t>
            </a:r>
            <a:r>
              <a:rPr lang="en-US" altLang="zh-CN" sz="1600" dirty="0">
                <a:sym typeface="+mn-ea"/>
              </a:rPr>
              <a:t>/</a:t>
            </a:r>
            <a:r>
              <a:rPr lang="zh-CN" altLang="en-US" sz="1600" dirty="0">
                <a:sym typeface="+mn-ea"/>
              </a:rPr>
              <a:t>当月订单总数、营收总额、单均价。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>
                <a:sym typeface="+mn-ea"/>
              </a:rPr>
              <a:t>菜品分析：</a:t>
            </a:r>
            <a:r>
              <a:rPr lang="en-US" altLang="zh-CN" sz="1600" dirty="0">
                <a:sym typeface="+mn-ea"/>
              </a:rPr>
              <a:t> </a:t>
            </a:r>
            <a:r>
              <a:rPr lang="zh-CN" altLang="en-US" sz="1600" dirty="0">
                <a:sym typeface="+mn-ea"/>
              </a:rPr>
              <a:t>菜品销量排行榜、哪些菜品常被退款</a:t>
            </a:r>
            <a:r>
              <a:rPr lang="en-US" altLang="zh-CN" sz="1600" dirty="0">
                <a:sym typeface="+mn-ea"/>
              </a:rPr>
              <a:t>/</a:t>
            </a:r>
            <a:r>
              <a:rPr lang="zh-CN" altLang="en-US" sz="1600" dirty="0">
                <a:sym typeface="+mn-ea"/>
              </a:rPr>
              <a:t>投诉。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>
                <a:sym typeface="+mn-ea"/>
              </a:rPr>
              <a:t>营业分析：</a:t>
            </a:r>
            <a:r>
              <a:rPr lang="en-US" altLang="zh-CN" sz="1600" dirty="0">
                <a:sym typeface="+mn-ea"/>
              </a:rPr>
              <a:t> </a:t>
            </a:r>
            <a:r>
              <a:rPr lang="zh-CN" altLang="en-US" sz="1600" dirty="0">
                <a:sym typeface="+mn-ea"/>
              </a:rPr>
              <a:t>订单高峰期分布图、平均出餐时长。</a:t>
            </a:r>
            <a:endParaRPr lang="zh-CN" altLang="en-US" sz="1600" dirty="0"/>
          </a:p>
          <a:p>
            <a:endParaRPr lang="zh-CN" alt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775335" y="-998220"/>
            <a:ext cx="6858635" cy="8855075"/>
          </a:xfrm>
          <a:custGeom>
            <a:avLst/>
            <a:gdLst/>
            <a:ahLst/>
            <a:cxnLst/>
            <a:rect l="l" t="t" r="r" b="b"/>
            <a:pathLst>
              <a:path w="6858635" h="8855075">
                <a:moveTo>
                  <a:pt x="11430" y="4932400"/>
                </a:moveTo>
                <a:lnTo>
                  <a:pt x="6858635" y="0"/>
                </a:lnTo>
                <a:lnTo>
                  <a:pt x="6858635" y="8855075"/>
                </a:lnTo>
                <a:lnTo>
                  <a:pt x="0" y="8855075"/>
                </a:lnTo>
                <a:lnTo>
                  <a:pt x="11430" y="4932400"/>
                </a:lnTo>
                <a:close/>
              </a:path>
            </a:pathLst>
          </a:custGeom>
          <a:solidFill>
            <a:srgbClr val="E8F87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5400000">
            <a:off x="998220" y="-998220"/>
            <a:ext cx="6858635" cy="8855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0485" y="325755"/>
            <a:ext cx="3253105" cy="176784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4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管理员</a:t>
            </a:r>
            <a:r>
              <a:rPr lang="en-US" sz="4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端</a:t>
            </a:r>
            <a:endParaRPr lang="en-US" sz="1600" dirty="0"/>
          </a:p>
        </p:txBody>
      </p:sp>
      <p:pic>
        <p:nvPicPr>
          <p:cNvPr id="7" name="Image 2" descr="https://test-kimi-img.moonshot.cn/pub/slides/slides_tmpl/image/25-08-11-18:10:14-d2cs31n0ctitcgma30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05" y="-125096"/>
            <a:ext cx="1399774" cy="219456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90930" y="1341120"/>
            <a:ext cx="4533265" cy="93789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管理员</a:t>
            </a:r>
            <a:r>
              <a:rPr lang="en-US" sz="2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功能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369570" y="3184525"/>
            <a:ext cx="10384790" cy="300609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dirty="0"/>
              <a:t>2. </a:t>
            </a:r>
            <a:r>
              <a:rPr lang="zh-CN" altLang="en-US" sz="1600" dirty="0"/>
              <a:t>用户与权限管理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食堂管理：</a:t>
            </a:r>
            <a:r>
              <a:rPr lang="en-US" altLang="zh-CN" sz="1600" dirty="0"/>
              <a:t> </a:t>
            </a:r>
            <a:r>
              <a:rPr lang="zh-CN" altLang="en-US" sz="1600" dirty="0"/>
              <a:t>审核、添加、编辑、禁用合作食堂。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分配商家后台账号。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用户管理：</a:t>
            </a:r>
            <a:r>
              <a:rPr lang="en-US" altLang="zh-CN" sz="1600" dirty="0"/>
              <a:t> </a:t>
            </a:r>
            <a:r>
              <a:rPr lang="zh-CN" altLang="en-US" sz="1600" dirty="0"/>
              <a:t>查看</a:t>
            </a:r>
            <a:r>
              <a:rPr lang="en-US" altLang="zh-CN" sz="1600" dirty="0"/>
              <a:t>C</a:t>
            </a:r>
            <a:r>
              <a:rPr lang="zh-CN" altLang="en-US" sz="1600" dirty="0"/>
              <a:t>端用户列表，处理用户举报，禁用违规用户。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角色与权限：</a:t>
            </a:r>
            <a:r>
              <a:rPr lang="en-US" altLang="zh-CN" sz="1600" dirty="0"/>
              <a:t> </a:t>
            </a:r>
            <a:r>
              <a:rPr lang="zh-CN" altLang="en-US" sz="1600" dirty="0"/>
              <a:t>为不同管理员分配权限（如超级管理员、财务管理员、客服管理员）。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dirty="0"/>
              <a:t>3. </a:t>
            </a:r>
            <a:r>
              <a:rPr lang="zh-CN" altLang="en-US" sz="1600" dirty="0"/>
              <a:t>平台运营与内容管理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首页管理：</a:t>
            </a:r>
            <a:r>
              <a:rPr lang="en-US" altLang="zh-CN" sz="1600" dirty="0"/>
              <a:t> </a:t>
            </a:r>
            <a:r>
              <a:rPr lang="zh-CN" altLang="en-US" sz="1600" dirty="0"/>
              <a:t>配置首页轮播图、公告发布。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全局营销：</a:t>
            </a:r>
            <a:r>
              <a:rPr lang="en-US" altLang="zh-CN" sz="1600" dirty="0"/>
              <a:t> </a:t>
            </a:r>
            <a:r>
              <a:rPr lang="zh-CN" altLang="en-US" sz="1600" dirty="0"/>
              <a:t>发放全平台通用的优惠券，组织跨食堂的营销活动。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评价管理：</a:t>
            </a:r>
            <a:r>
              <a:rPr lang="en-US" altLang="zh-CN" sz="1600" dirty="0"/>
              <a:t> </a:t>
            </a:r>
            <a:r>
              <a:rPr lang="zh-CN" altLang="en-US" sz="1600" dirty="0"/>
              <a:t>审核用户评价，删除不当内容。</a:t>
            </a:r>
            <a:endParaRPr lang="en-US" altLang="zh-C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dirty="0"/>
              <a:t>4. </a:t>
            </a:r>
            <a:r>
              <a:rPr lang="zh-CN" altLang="en-US" sz="1600" dirty="0"/>
              <a:t>财务与结算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对账管理：</a:t>
            </a:r>
            <a:r>
              <a:rPr lang="en-US" altLang="zh-CN" sz="1600" dirty="0"/>
              <a:t> </a:t>
            </a:r>
            <a:r>
              <a:rPr lang="zh-CN" altLang="en-US" sz="1600" dirty="0"/>
              <a:t>生成与各个食堂的周期结算报表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（平台抽成或固定服务费模式）。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交易记录：</a:t>
            </a:r>
            <a:r>
              <a:rPr lang="en-US" altLang="zh-CN" sz="1600" dirty="0"/>
              <a:t> </a:t>
            </a:r>
            <a:r>
              <a:rPr lang="zh-CN" altLang="en-US" sz="1600" dirty="0"/>
              <a:t>查询全平台所有交易流水。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/>
              <a:t>财务报表：</a:t>
            </a:r>
            <a:r>
              <a:rPr lang="en-US" altLang="zh-CN" sz="1600" dirty="0"/>
              <a:t> </a:t>
            </a:r>
            <a:r>
              <a:rPr lang="zh-CN" altLang="en-US" sz="1600" dirty="0"/>
              <a:t>生成平台营收、利润等财务报表。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915" y="167005"/>
            <a:ext cx="5465445" cy="33502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65520" y="4453255"/>
            <a:ext cx="4688840" cy="1839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dirty="0">
                <a:sym typeface="+mn-ea"/>
              </a:rPr>
              <a:t>5. </a:t>
            </a:r>
            <a:r>
              <a:rPr lang="zh-CN" altLang="en-US" dirty="0">
                <a:sym typeface="+mn-ea"/>
              </a:rPr>
              <a:t>系统设置与监控</a:t>
            </a:r>
            <a:endParaRPr lang="zh-CN" altLang="en-US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dirty="0">
                <a:sym typeface="+mn-ea"/>
              </a:rPr>
              <a:t>参数配置：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设置平台服务费率、订单自动取消时间、</a:t>
            </a:r>
            <a:endParaRPr lang="zh-CN" altLang="en-US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dirty="0">
                <a:sym typeface="+mn-ea"/>
              </a:rPr>
              <a:t>最长预约时间等</a:t>
            </a:r>
            <a:endParaRPr lang="zh-CN" altLang="en-US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dirty="0">
                <a:sym typeface="+mn-ea"/>
              </a:rPr>
              <a:t>系统监控：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监控服务器状态、</a:t>
            </a:r>
            <a:r>
              <a:rPr lang="en-US" altLang="zh-CN" dirty="0">
                <a:sym typeface="+mn-ea"/>
              </a:rPr>
              <a:t>API</a:t>
            </a:r>
            <a:r>
              <a:rPr lang="zh-CN" altLang="en-US" dirty="0">
                <a:sym typeface="+mn-ea"/>
              </a:rPr>
              <a:t>接口健康状况。</a:t>
            </a:r>
            <a:endParaRPr lang="en-US" altLang="zh-CN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dirty="0">
                <a:sym typeface="+mn-ea"/>
              </a:rPr>
              <a:t>日志审计：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查看所有管理员的操作日志，确保安全。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57505" y="2094230"/>
            <a:ext cx="4931410" cy="1322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dirty="0">
                <a:sym typeface="+mn-ea"/>
              </a:rPr>
              <a:t>管理端核心目标是监管、维护和分析整个平台。</a:t>
            </a:r>
            <a:endParaRPr lang="zh-CN" altLang="en-US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dirty="0">
                <a:sym typeface="+mn-ea"/>
              </a:rPr>
              <a:t>1. </a:t>
            </a:r>
            <a:r>
              <a:rPr lang="zh-CN" altLang="en-US" sz="1600" dirty="0">
                <a:sym typeface="+mn-ea"/>
              </a:rPr>
              <a:t>系统概览</a:t>
            </a:r>
            <a:endParaRPr lang="zh-CN" altLang="en-US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>
                <a:sym typeface="+mn-ea"/>
              </a:rPr>
              <a:t>平台核心数据看板：</a:t>
            </a:r>
            <a:r>
              <a:rPr lang="en-US" altLang="zh-CN" sz="1600" dirty="0">
                <a:sym typeface="+mn-ea"/>
              </a:rPr>
              <a:t> </a:t>
            </a:r>
            <a:r>
              <a:rPr lang="zh-CN" altLang="en-US" sz="1600" dirty="0">
                <a:sym typeface="+mn-ea"/>
              </a:rPr>
              <a:t>总注册用户数、日活</a:t>
            </a:r>
            <a:r>
              <a:rPr lang="en-US" altLang="zh-CN" sz="1600" dirty="0">
                <a:sym typeface="+mn-ea"/>
              </a:rPr>
              <a:t>/</a:t>
            </a:r>
            <a:r>
              <a:rPr lang="zh-CN" altLang="en-US" sz="1600" dirty="0">
                <a:sym typeface="+mn-ea"/>
              </a:rPr>
              <a:t>月活、平台总订单数、总交易额（</a:t>
            </a:r>
            <a:r>
              <a:rPr lang="en-US" altLang="zh-CN" sz="1600" dirty="0">
                <a:sym typeface="+mn-ea"/>
              </a:rPr>
              <a:t>GMV</a:t>
            </a:r>
            <a:r>
              <a:rPr lang="zh-CN" altLang="en-US" sz="1600" dirty="0">
                <a:sym typeface="+mn-ea"/>
              </a:rPr>
              <a:t>）、合作食堂数量</a:t>
            </a:r>
            <a:r>
              <a:rPr lang="zh-CN" altLang="en-US" dirty="0">
                <a:sym typeface="+mn-ea"/>
              </a:rPr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6001385" y="586105"/>
            <a:ext cx="5621020" cy="6530340"/>
          </a:xfrm>
          <a:prstGeom prst="star4">
            <a:avLst/>
          </a:prstGeom>
          <a:solidFill>
            <a:srgbClr val="E8F87A">
              <a:alpha val="20000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 rot="1500000">
            <a:off x="6001385" y="586105"/>
            <a:ext cx="5621020" cy="65303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2879725"/>
            <a:ext cx="735330" cy="807720"/>
          </a:xfrm>
          <a:prstGeom prst="rect">
            <a:avLst/>
          </a:prstGeom>
          <a:solidFill>
            <a:srgbClr val="EAF98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0" y="2879725"/>
            <a:ext cx="735330" cy="807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74397" y="2766695"/>
            <a:ext cx="5633720" cy="183261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技术实现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70145" y="2200910"/>
            <a:ext cx="913765" cy="1131570"/>
          </a:xfrm>
          <a:prstGeom prst="star4">
            <a:avLst/>
          </a:prstGeom>
          <a:solidFill>
            <a:srgbClr val="ACD78E">
              <a:alpha val="7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70145" y="2200910"/>
            <a:ext cx="913765" cy="1131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0420" y="1602105"/>
            <a:ext cx="4822825" cy="38588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0" dirty="0">
                <a:solidFill>
                  <a:srgbClr val="E8F87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04</a:t>
            </a:r>
            <a:endParaRPr lang="en-US" sz="1600" dirty="0"/>
          </a:p>
        </p:txBody>
      </p:sp>
      <p:pic>
        <p:nvPicPr>
          <p:cNvPr id="10" name="Image 0" descr="https://test-kimi-img.moonshot.cn/pub/slides/slides_tmpl/image/25-08-11-18:10:17-d2cs32f0ctitcgma306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34035"/>
            <a:ext cx="2377440" cy="30178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8-11-18:10:32-d2cs3670ctitcgma30o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800225" y="0"/>
            <a:ext cx="103917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71015" y="-11430"/>
            <a:ext cx="5989320" cy="6887845"/>
          </a:xfrm>
          <a:custGeom>
            <a:avLst/>
            <a:gdLst/>
            <a:ahLst/>
            <a:cxnLst/>
            <a:rect l="l" t="t" r="r" b="b"/>
            <a:pathLst>
              <a:path w="5989320" h="6887845">
                <a:moveTo>
                  <a:pt x="0" y="11430"/>
                </a:moveTo>
                <a:lnTo>
                  <a:pt x="5989320" y="0"/>
                </a:lnTo>
                <a:lnTo>
                  <a:pt x="960120" y="6872605"/>
                </a:lnTo>
                <a:lnTo>
                  <a:pt x="0" y="6887845"/>
                </a:lnTo>
                <a:lnTo>
                  <a:pt x="0" y="11430"/>
                </a:lnTo>
                <a:close/>
              </a:path>
            </a:pathLst>
          </a:custGeom>
          <a:solidFill>
            <a:srgbClr val="FFFCF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1771015" y="-11430"/>
            <a:ext cx="5989320" cy="68878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637155" y="-11430"/>
            <a:ext cx="9554845" cy="6869430"/>
          </a:xfrm>
          <a:custGeom>
            <a:avLst/>
            <a:gdLst/>
            <a:ahLst/>
            <a:cxnLst/>
            <a:rect l="l" t="t" r="r" b="b"/>
            <a:pathLst>
              <a:path w="9554845" h="6869430">
                <a:moveTo>
                  <a:pt x="5086029" y="8283"/>
                </a:moveTo>
                <a:lnTo>
                  <a:pt x="9554845" y="0"/>
                </a:lnTo>
                <a:lnTo>
                  <a:pt x="9554845" y="6869430"/>
                </a:lnTo>
                <a:lnTo>
                  <a:pt x="0" y="6869430"/>
                </a:lnTo>
                <a:lnTo>
                  <a:pt x="5086029" y="8283"/>
                </a:lnTo>
                <a:close/>
              </a:path>
            </a:pathLst>
          </a:custGeom>
          <a:solidFill>
            <a:srgbClr val="EAF982">
              <a:alpha val="66667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2637155" y="-11430"/>
            <a:ext cx="9554845" cy="68694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0070" y="1299347"/>
            <a:ext cx="8820785" cy="1622924"/>
          </a:xfrm>
          <a:prstGeom prst="roundRect">
            <a:avLst/>
          </a:prstGeom>
          <a:solidFill>
            <a:srgbClr val="EAF983">
              <a:alpha val="52157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60070" y="1299347"/>
            <a:ext cx="8820785" cy="162292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60070" y="474980"/>
            <a:ext cx="10283825" cy="61237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前后端分离架构选型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rot="1500000">
            <a:off x="10237470" y="975360"/>
            <a:ext cx="1991995" cy="2976245"/>
          </a:xfrm>
          <a:prstGeom prst="star4">
            <a:avLst/>
          </a:prstGeom>
          <a:solidFill>
            <a:srgbClr val="E8F87A">
              <a:alpha val="63137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 rot="1500000">
            <a:off x="10237470" y="975360"/>
            <a:ext cx="1991995" cy="29762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19560000">
            <a:off x="353695" y="3411220"/>
            <a:ext cx="1991995" cy="2976245"/>
          </a:xfrm>
          <a:prstGeom prst="star4">
            <a:avLst/>
          </a:prstGeom>
          <a:solidFill>
            <a:srgbClr val="92D050">
              <a:alpha val="21176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 rot="19560000">
            <a:off x="353695" y="3411220"/>
            <a:ext cx="1991995" cy="29762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662952" y="3045310"/>
            <a:ext cx="8820784" cy="1622924"/>
          </a:xfrm>
          <a:prstGeom prst="roundRect">
            <a:avLst/>
          </a:prstGeom>
          <a:solidFill>
            <a:srgbClr val="EAF983">
              <a:alpha val="52157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2"/>
          <p:cNvSpPr/>
          <p:nvPr/>
        </p:nvSpPr>
        <p:spPr>
          <a:xfrm>
            <a:off x="1662952" y="3045310"/>
            <a:ext cx="8820784" cy="162292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2681141" y="4826553"/>
            <a:ext cx="8820785" cy="1622924"/>
          </a:xfrm>
          <a:prstGeom prst="roundRect">
            <a:avLst/>
          </a:prstGeom>
          <a:solidFill>
            <a:srgbClr val="EAF983">
              <a:alpha val="52157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2681141" y="4826553"/>
            <a:ext cx="8820785" cy="162292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3231715" y="1388919"/>
            <a:ext cx="4816475" cy="4902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前端技术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3231715" y="1825208"/>
            <a:ext cx="5867835" cy="14865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dirty="0" err="1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前端基于微信小程序</a:t>
            </a:r>
            <a:r>
              <a:rPr lang="en-US" sz="1400" baseline="30000" dirty="0">
                <a:solidFill>
                  <a:srgbClr val="604802"/>
                </a:solidFill>
                <a:latin typeface="+mn-ea"/>
                <a:cs typeface="MiSans" panose="00000500000000000000" pitchFamily="34" charset="-120"/>
              </a:rPr>
              <a:t>[1]</a:t>
            </a:r>
            <a:r>
              <a:rPr lang="en-US" sz="1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，利用</a:t>
            </a:r>
            <a:r>
              <a:rPr lang="zh-CN" altLang="en-US" sz="1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手机号登录</a:t>
            </a:r>
            <a:r>
              <a:rPr lang="en-US" sz="1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，支付直接调用微信校园卡，实现无缝对接校园生态，提升用户体验。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334595" y="3134882"/>
            <a:ext cx="4816475" cy="4902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后端技术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4334595" y="3571171"/>
            <a:ext cx="5867835" cy="14865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/>
            <a:r>
              <a:rPr lang="en-US" sz="1400" dirty="0" err="1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后端采用SpringBoot</a:t>
            </a:r>
            <a:r>
              <a:rPr lang="en-US" sz="1400" baseline="30000" dirty="0">
                <a:solidFill>
                  <a:srgbClr val="604802"/>
                </a:solidFill>
                <a:latin typeface="+mn-ea"/>
                <a:ea typeface="MiSans" panose="00000500000000000000" pitchFamily="34" charset="-122"/>
                <a:cs typeface="MiSans" panose="00000500000000000000" pitchFamily="34" charset="-120"/>
              </a:rPr>
              <a:t>[2]</a:t>
            </a:r>
            <a:r>
              <a:rPr lang="en-US" sz="1400" dirty="0" err="1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框架，RESTful接口与小程序对接，MySQL存储菜品、订单、用户数据，确保系统稳定高效运行</a:t>
            </a:r>
            <a:r>
              <a:rPr lang="en-US" sz="1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。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352786" y="4916125"/>
            <a:ext cx="4816475" cy="49022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技术优势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5352786" y="5352414"/>
            <a:ext cx="5867835" cy="14865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前后端分离架构便于开发与维护，前后端可独立迭代，提升开发效率；同时，技术选型成熟可靠，易于扩展与优化。</a:t>
            </a:r>
            <a:endParaRPr lang="en-US" sz="1600" dirty="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1620" y="4869180"/>
            <a:ext cx="1993265" cy="149479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9560" y="1397000"/>
            <a:ext cx="1306195" cy="130619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0575" y="3293745"/>
            <a:ext cx="2273935" cy="11620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9E43D-2B94-0F72-225A-DD6A954FC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98017C-F684-308D-549E-922732148480}"/>
              </a:ext>
            </a:extLst>
          </p:cNvPr>
          <p:cNvSpPr/>
          <p:nvPr/>
        </p:nvSpPr>
        <p:spPr>
          <a:xfrm rot="1500000">
            <a:off x="6001385" y="586105"/>
            <a:ext cx="5621020" cy="6530340"/>
          </a:xfrm>
          <a:prstGeom prst="star4">
            <a:avLst/>
          </a:prstGeom>
          <a:solidFill>
            <a:srgbClr val="E8F87A">
              <a:alpha val="20000"/>
            </a:srgbClr>
          </a:solidFill>
          <a:effectLst>
            <a:outerShdw blurRad="50800" dist="26941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46DC4B-1E6D-F482-A25C-B1572CAD6200}"/>
              </a:ext>
            </a:extLst>
          </p:cNvPr>
          <p:cNvSpPr/>
          <p:nvPr/>
        </p:nvSpPr>
        <p:spPr>
          <a:xfrm rot="1500000">
            <a:off x="6001385" y="586105"/>
            <a:ext cx="5621020" cy="65303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8EADBB3-CF47-A2C4-F3F2-F5C76A7F6904}"/>
              </a:ext>
            </a:extLst>
          </p:cNvPr>
          <p:cNvSpPr/>
          <p:nvPr/>
        </p:nvSpPr>
        <p:spPr>
          <a:xfrm>
            <a:off x="0" y="2879725"/>
            <a:ext cx="735330" cy="807720"/>
          </a:xfrm>
          <a:prstGeom prst="rect">
            <a:avLst/>
          </a:prstGeom>
          <a:solidFill>
            <a:srgbClr val="EAF98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E21279C-AC8D-2904-03FE-8584749BAACC}"/>
              </a:ext>
            </a:extLst>
          </p:cNvPr>
          <p:cNvSpPr/>
          <p:nvPr/>
        </p:nvSpPr>
        <p:spPr>
          <a:xfrm>
            <a:off x="0" y="2879725"/>
            <a:ext cx="735330" cy="807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6C2C33F-D769-D453-F853-AA333D79F501}"/>
              </a:ext>
            </a:extLst>
          </p:cNvPr>
          <p:cNvSpPr/>
          <p:nvPr/>
        </p:nvSpPr>
        <p:spPr>
          <a:xfrm>
            <a:off x="5574397" y="2766695"/>
            <a:ext cx="5633720" cy="183261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4400" b="1" dirty="0">
                <a:solidFill>
                  <a:srgbClr val="60480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项目计划</a:t>
            </a:r>
            <a:endParaRPr lang="en-US" sz="1600" b="1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D636347-96F1-E44A-BE30-33EFA03010DC}"/>
              </a:ext>
            </a:extLst>
          </p:cNvPr>
          <p:cNvSpPr/>
          <p:nvPr/>
        </p:nvSpPr>
        <p:spPr>
          <a:xfrm>
            <a:off x="4970145" y="2200910"/>
            <a:ext cx="913765" cy="1131570"/>
          </a:xfrm>
          <a:prstGeom prst="star4">
            <a:avLst/>
          </a:prstGeom>
          <a:solidFill>
            <a:srgbClr val="ACD78E">
              <a:alpha val="7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C8234A9-B187-022A-1F71-085AB448908F}"/>
              </a:ext>
            </a:extLst>
          </p:cNvPr>
          <p:cNvSpPr/>
          <p:nvPr/>
        </p:nvSpPr>
        <p:spPr>
          <a:xfrm>
            <a:off x="4970145" y="2200910"/>
            <a:ext cx="913765" cy="1131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1D58D8C-AC9B-6C60-9EE0-246B8CFB082E}"/>
              </a:ext>
            </a:extLst>
          </p:cNvPr>
          <p:cNvSpPr/>
          <p:nvPr/>
        </p:nvSpPr>
        <p:spPr>
          <a:xfrm>
            <a:off x="820420" y="1602105"/>
            <a:ext cx="4822825" cy="39395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0" dirty="0">
                <a:solidFill>
                  <a:srgbClr val="E8F87A"/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rPr>
              <a:t>0</a:t>
            </a:r>
            <a:r>
              <a:rPr lang="en-US" sz="25000" dirty="0">
                <a:solidFill>
                  <a:srgbClr val="E8F87A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MiSans" panose="00000500000000000000" pitchFamily="34" charset="-120"/>
              </a:rPr>
              <a:t>5</a:t>
            </a:r>
            <a:endParaRPr lang="en-US" sz="16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10" name="Image 0" descr="https://test-kimi-img.moonshot.cn/pub/slides/slides_tmpl/image/25-08-11-18:10:17-d2cs32f0ctitcgma306g.png">
            <a:extLst>
              <a:ext uri="{FF2B5EF4-FFF2-40B4-BE49-F238E27FC236}">
                <a16:creationId xmlns:a16="http://schemas.microsoft.com/office/drawing/2014/main" id="{366BBB46-21C7-6016-81B2-4E04A5DA5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34035"/>
            <a:ext cx="2377440" cy="30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954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241C539E-07B9-134C-03D8-5F346A0A2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20834"/>
            <a:ext cx="10905066" cy="501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511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9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4540" y="1010920"/>
            <a:ext cx="6787515" cy="1316990"/>
          </a:xfrm>
          <a:prstGeom prst="rect">
            <a:avLst/>
          </a:prstGeom>
          <a:solidFill>
            <a:srgbClr val="FFFCF2"/>
          </a:solidFill>
        </p:spPr>
        <p:txBody>
          <a:bodyPr/>
          <a:lstStyle/>
          <a:p>
            <a:r>
              <a:rPr lang="zh-CN" altLang="en-US"/>
              <a:t>组员分工：</a:t>
            </a:r>
          </a:p>
          <a:p>
            <a:r>
              <a:rPr lang="zh-CN" altLang="en-US"/>
              <a:t>杨坤洁：制定项目计划和项目可行性分析</a:t>
            </a:r>
            <a:r>
              <a:rPr lang="en-US" altLang="zh-CN"/>
              <a:t>		       40%</a:t>
            </a:r>
            <a:endParaRPr lang="zh-CN" altLang="en-US"/>
          </a:p>
          <a:p>
            <a:r>
              <a:rPr lang="zh-CN" altLang="en-US"/>
              <a:t>徐俊华：甘特图的绘制</a:t>
            </a:r>
            <a:r>
              <a:rPr lang="en-US" altLang="zh-CN"/>
              <a:t>				       3</a:t>
            </a:r>
            <a:r>
              <a:rPr lang="en-US" altLang="zh-CN">
                <a:sym typeface="+mn-ea"/>
              </a:rPr>
              <a:t>0%</a:t>
            </a:r>
            <a:endParaRPr lang="zh-CN" altLang="en-US"/>
          </a:p>
          <a:p>
            <a:r>
              <a:rPr lang="zh-CN" altLang="en-US"/>
              <a:t>赵晓凯：制作</a:t>
            </a:r>
            <a:r>
              <a:rPr lang="en-US" altLang="zh-CN"/>
              <a:t>ppt                   				       </a:t>
            </a:r>
            <a:r>
              <a:rPr lang="en-US" altLang="zh-CN">
                <a:sym typeface="+mn-ea"/>
              </a:rPr>
              <a:t>30%</a:t>
            </a:r>
            <a:endParaRPr lang="en-US" altLang="zh-CN"/>
          </a:p>
        </p:txBody>
      </p:sp>
      <p:sp>
        <p:nvSpPr>
          <p:cNvPr id="3" name="Text 1"/>
          <p:cNvSpPr/>
          <p:nvPr/>
        </p:nvSpPr>
        <p:spPr>
          <a:xfrm>
            <a:off x="4742863" y="2077941"/>
            <a:ext cx="6787500" cy="19950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013826" y="1497706"/>
            <a:ext cx="8018780" cy="1505587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flipV="1">
            <a:off x="2585720" y="5816600"/>
            <a:ext cx="9282430" cy="22860"/>
          </a:xfrm>
          <a:prstGeom prst="line">
            <a:avLst/>
          </a:prstGeom>
          <a:noFill/>
          <a:ln w="44450">
            <a:solidFill>
              <a:srgbClr val="FFFFFF">
                <a:alpha val="6313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https://test-kimi-img.moonshot.cn/pub/slides/slides_tmpl/image/25-08-11-18:10:14-d2cs31n0ctitcgma30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1237" y="-602730"/>
            <a:ext cx="5186113" cy="813077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646610" y="3559465"/>
            <a:ext cx="62179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参考文献：</a:t>
            </a:r>
            <a:endParaRPr lang="en-US" altLang="zh-CN" dirty="0"/>
          </a:p>
          <a:p>
            <a:r>
              <a:rPr lang="en-US" altLang="zh-CN" dirty="0">
                <a:hlinkClick r:id="rId4"/>
              </a:rPr>
              <a:t>[1]:</a:t>
            </a:r>
            <a:r>
              <a:rPr lang="zh-CN" altLang="en-US" dirty="0">
                <a:hlinkClick r:id="rId4"/>
              </a:rPr>
              <a:t>微信开放文档 </a:t>
            </a:r>
            <a:r>
              <a:rPr lang="en-US" altLang="zh-CN" dirty="0">
                <a:hlinkClick r:id="rId4"/>
              </a:rPr>
              <a:t>/ </a:t>
            </a:r>
            <a:r>
              <a:rPr lang="zh-CN" altLang="en-US" dirty="0">
                <a:hlinkClick r:id="rId4"/>
              </a:rPr>
              <a:t>开发</a:t>
            </a:r>
            <a:r>
              <a:rPr lang="en-US" altLang="zh-CN" dirty="0"/>
              <a:t>https://developers.weixin.qq.com/miniprogram/dev/framework</a:t>
            </a:r>
          </a:p>
          <a:p>
            <a:r>
              <a:rPr lang="en-US" altLang="zh-CN" dirty="0">
                <a:hlinkClick r:id="rId5"/>
              </a:rPr>
              <a:t>[2]:Documentation Overview :: Spring Boot</a:t>
            </a:r>
            <a:r>
              <a:rPr lang="en-US" altLang="zh-CN" dirty="0"/>
              <a:t>https://docs.spring.io/spring-boot/documentation.html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9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05910" y="749935"/>
            <a:ext cx="4307840" cy="2282190"/>
          </a:xfrm>
          <a:prstGeom prst="rect">
            <a:avLst/>
          </a:prstGeom>
          <a:solidFill>
            <a:srgbClr val="FFFCF2"/>
          </a:solidFill>
        </p:spPr>
        <p:txBody>
          <a:bodyPr/>
          <a:lstStyle/>
          <a:p>
            <a:r>
              <a:rPr lang="zh-CN" altLang="en-US"/>
              <a:t>这周还开展了每周一次的周会，总结了先前项目计划的不足，比如项目计划书和项目可行性分析没有使用模板，甘特图的缺失，没有使用配置管理工具。布置了下一周的工作，赵晓凯完成产品原型设计与</a:t>
            </a:r>
            <a:r>
              <a:rPr lang="en-US" altLang="zh-CN"/>
              <a:t>UI</a:t>
            </a:r>
            <a:r>
              <a:rPr lang="zh-CN" altLang="en-US"/>
              <a:t>设计，徐俊华完成数据库设计与</a:t>
            </a:r>
            <a:r>
              <a:rPr lang="en-US" altLang="zh-CN"/>
              <a:t>API</a:t>
            </a:r>
            <a:r>
              <a:rPr lang="zh-CN" altLang="en-US"/>
              <a:t>接口设计，然后所有人细化项目开发计划，最后对每个人本周贡献做出评价</a:t>
            </a:r>
          </a:p>
        </p:txBody>
      </p:sp>
      <p:sp>
        <p:nvSpPr>
          <p:cNvPr id="3" name="Text 1"/>
          <p:cNvSpPr/>
          <p:nvPr/>
        </p:nvSpPr>
        <p:spPr>
          <a:xfrm>
            <a:off x="4461558" y="2003646"/>
            <a:ext cx="6787500" cy="19950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013826" y="1497706"/>
            <a:ext cx="8018780" cy="1505587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flipV="1">
            <a:off x="2585720" y="5816600"/>
            <a:ext cx="9282430" cy="22860"/>
          </a:xfrm>
          <a:prstGeom prst="line">
            <a:avLst/>
          </a:prstGeom>
          <a:noFill/>
          <a:ln w="44450">
            <a:solidFill>
              <a:srgbClr val="FFFFFF">
                <a:alpha val="6313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https://test-kimi-img.moonshot.cn/pub/slides/slides_tmpl/image/25-08-11-18:10:14-d2cs31n0ctitcgma30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1237" y="-602730"/>
            <a:ext cx="5186113" cy="813077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497965"/>
            <a:ext cx="1986280" cy="396621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8,&quot;left&quot;:379.15,&quot;top&quot;:151.4,&quot;width&quot;:551.3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8,&quot;left&quot;:379.15,&quot;top&quot;:151.4,&quot;width&quot;:551.3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8,&quot;left&quot;:379.15,&quot;top&quot;:151.4,&quot;width&quot;:551.3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8,&quot;left&quot;:379.15,&quot;top&quot;:151.4,&quot;width&quot;:551.3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2688188976378,&quot;left&quot;:528.530157480315,&quot;top&quot;:24.620236220472442,&quot;width&quot;:407.9198425196850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2688188976378,&quot;left&quot;:528.530157480315,&quot;top&quot;:24.620236220472442,&quot;width&quot;:407.9198425196850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2688188976378,&quot;left&quot;:528.530157480315,&quot;top&quot;:24.620236220472442,&quot;width&quot;:407.9198425196850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2688188976378,&quot;left&quot;:528.530157480315,&quot;top&quot;:24.620236220472442,&quot;width&quot;:407.9198425196850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2688188976378,&quot;left&quot;:528.530157480315,&quot;top&quot;:24.620236220472442,&quot;width&quot;:407.9198425196850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2688188976378,&quot;left&quot;:528.530157480315,&quot;top&quot;:24.620236220472442,&quot;width&quot;:407.9198425196850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7.2688188976378,&quot;left&quot;:528.530157480315,&quot;top&quot;:24.620236220472442,&quot;width&quot;:407.9198425196850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2811417322835,&quot;left&quot;:554.7877952755905,&quot;top&quot;:144.65791338582676,&quot;width&quot;:373.15511811023623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2811417322835,&quot;left&quot;:554.7877952755905,&quot;top&quot;:144.65791338582676,&quot;width&quot;:373.15511811023623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2811417322835,&quot;left&quot;:554.7877952755905,&quot;top&quot;:144.65791338582676,&quot;width&quot;:373.15511811023623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1485</Words>
  <Application>Microsoft Office PowerPoint</Application>
  <PresentationFormat>宽屏</PresentationFormat>
  <Paragraphs>157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MiSans</vt:lpstr>
      <vt:lpstr>Calibri</vt:lpstr>
      <vt:lpstr>Malgun Gothic</vt:lpstr>
      <vt:lpstr>Arial</vt:lpstr>
      <vt:lpstr>Malgun Gothic Semilight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城院点餐小程序选题汇报</dc:title>
  <dc:subject>城院点餐小程序选题汇报</dc:subject>
  <dc:creator>Kimi</dc:creator>
  <cp:lastModifiedBy>俊华 徐</cp:lastModifiedBy>
  <cp:revision>14</cp:revision>
  <dcterms:created xsi:type="dcterms:W3CDTF">2025-09-21T13:08:00Z</dcterms:created>
  <dcterms:modified xsi:type="dcterms:W3CDTF">2025-10-19T10:51:56Z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{"Label":"城院点餐小程序选题汇报","ContentProducer":"001191110108MACG2KBH8F10000","ProduceID":"d37vgvc2sn17kadc3tf0","ReservedCode1":"","ContentPropagator":"001191110108MACG2KBH8F20000","PropagateID":"d37vgvc2sn17kadc3tf0","ReservedCode2":""}</vt:lpwstr>
  </property>
  <property fmtid="{D5CDD505-2E9C-101B-9397-08002B2CF9AE}" pid="3" name="ICV">
    <vt:lpwstr>767E8DB58769435987C6F6CC3CE84FC0_13</vt:lpwstr>
  </property>
  <property fmtid="{D5CDD505-2E9C-101B-9397-08002B2CF9AE}" pid="4" name="KSOProductBuildVer">
    <vt:lpwstr>2052-12.1.0.23125</vt:lpwstr>
  </property>
</Properties>
</file>